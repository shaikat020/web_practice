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Overpass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5511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4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565083"/>
            <a:ext cx="5082540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CSS – Day 2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837724" y="3495080"/>
            <a:ext cx="6801207" cy="850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3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Styling &amp; Structure</a:t>
            </a:r>
            <a:endParaRPr lang="en-US" sz="5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621750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Quick Revision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2656523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Let's refresh what we learned in Day 1 before we build upon 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7724" y="3227189"/>
            <a:ext cx="4178618" cy="3380661"/>
          </a:xfrm>
          <a:prstGeom prst="roundRect">
            <a:avLst>
              <a:gd name="adj" fmla="val 2602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4775" y="3444240"/>
            <a:ext cx="628293" cy="628293"/>
          </a:xfrm>
          <a:prstGeom prst="roundRect">
            <a:avLst>
              <a:gd name="adj" fmla="val 14552264"/>
            </a:avLst>
          </a:prstGeom>
          <a:solidFill>
            <a:srgbClr val="F2037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7534" y="3617000"/>
            <a:ext cx="282654" cy="2826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4775" y="428196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What is CSS?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54775" y="4715589"/>
            <a:ext cx="3744516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Cascading Style Sheets control the presentation and layout of HTML documents. CSS separates content from design, making websites visually appealing and maintainable.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225772" y="3227189"/>
            <a:ext cx="4178737" cy="3380661"/>
          </a:xfrm>
          <a:prstGeom prst="roundRect">
            <a:avLst>
              <a:gd name="adj" fmla="val 2602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42823" y="3444240"/>
            <a:ext cx="628293" cy="628293"/>
          </a:xfrm>
          <a:prstGeom prst="roundRect">
            <a:avLst>
              <a:gd name="adj" fmla="val 14552264"/>
            </a:avLst>
          </a:prstGeom>
          <a:solidFill>
            <a:srgbClr val="F2037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15583" y="3617000"/>
            <a:ext cx="282654" cy="2826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2823" y="428196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Box Model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5442823" y="4715589"/>
            <a:ext cx="3744635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Every element is a box with content, padding, border, and margin. Understanding this model is crucial for precise spacing and layout control.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9613940" y="3227189"/>
            <a:ext cx="4178737" cy="3380661"/>
          </a:xfrm>
          <a:prstGeom prst="roundRect">
            <a:avLst>
              <a:gd name="adj" fmla="val 2602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30991" y="3444240"/>
            <a:ext cx="628293" cy="628293"/>
          </a:xfrm>
          <a:prstGeom prst="roundRect">
            <a:avLst>
              <a:gd name="adj" fmla="val 14552264"/>
            </a:avLst>
          </a:prstGeom>
          <a:solidFill>
            <a:srgbClr val="F2037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03750" y="3617000"/>
            <a:ext cx="282654" cy="2826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30991" y="428196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Selectors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9830991" y="4715589"/>
            <a:ext cx="3744635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Target elements using tags, classes, IDs, or attributes. Specificity determines which styles apply when multiple rules match the same element.</a:t>
            </a:r>
            <a:endParaRPr lang="en-US" sz="16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84A0679-5EB0-44A9-86E1-DF0530E7EC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96735" y="7648494"/>
            <a:ext cx="1638529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45901" y="797004"/>
            <a:ext cx="3087410" cy="385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Text Properties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445901" y="1347192"/>
            <a:ext cx="9738479" cy="17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CSS gives you powerful control over how text appears on your webpage. From color to spacing, these properties transform plain text into professional typography.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45901" y="1610201"/>
            <a:ext cx="9738479" cy="787241"/>
          </a:xfrm>
          <a:prstGeom prst="roundRect">
            <a:avLst>
              <a:gd name="adj" fmla="val 7000"/>
            </a:avLst>
          </a:prstGeom>
          <a:solidFill>
            <a:srgbClr val="252222">
              <a:alpha val="95000"/>
            </a:srgbClr>
          </a:solidFill>
          <a:ln w="15240">
            <a:solidFill>
              <a:srgbClr val="971B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1141" y="1625441"/>
            <a:ext cx="524828" cy="756761"/>
          </a:xfrm>
          <a:prstGeom prst="roundRect">
            <a:avLst>
              <a:gd name="adj" fmla="val 7016"/>
            </a:avLst>
          </a:prstGeom>
          <a:solidFill>
            <a:srgbClr val="7E023C"/>
          </a:solidFill>
          <a:ln/>
        </p:spPr>
      </p:sp>
      <p:sp>
        <p:nvSpPr>
          <p:cNvPr id="6" name="Text 4"/>
          <p:cNvSpPr/>
          <p:nvPr/>
        </p:nvSpPr>
        <p:spPr>
          <a:xfrm>
            <a:off x="2621280" y="1880830"/>
            <a:ext cx="196810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68122" y="1756648"/>
            <a:ext cx="1543645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color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68122" y="1998940"/>
            <a:ext cx="8969812" cy="17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Sets the text color using names, hex codes, RGB, or HSL values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5901" y="2479596"/>
            <a:ext cx="9738479" cy="787241"/>
          </a:xfrm>
          <a:prstGeom prst="roundRect">
            <a:avLst>
              <a:gd name="adj" fmla="val 7000"/>
            </a:avLst>
          </a:prstGeom>
          <a:solidFill>
            <a:srgbClr val="252222">
              <a:alpha val="95000"/>
            </a:srgbClr>
          </a:solidFill>
          <a:ln w="15240">
            <a:solidFill>
              <a:srgbClr val="971B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1141" y="2494836"/>
            <a:ext cx="524828" cy="756761"/>
          </a:xfrm>
          <a:prstGeom prst="roundRect">
            <a:avLst>
              <a:gd name="adj" fmla="val 7016"/>
            </a:avLst>
          </a:prstGeom>
          <a:solidFill>
            <a:srgbClr val="7E023C"/>
          </a:solidFill>
          <a:ln/>
        </p:spPr>
      </p:sp>
      <p:sp>
        <p:nvSpPr>
          <p:cNvPr id="11" name="Text 9"/>
          <p:cNvSpPr/>
          <p:nvPr/>
        </p:nvSpPr>
        <p:spPr>
          <a:xfrm>
            <a:off x="2621280" y="2750225"/>
            <a:ext cx="196810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68122" y="2626043"/>
            <a:ext cx="1543645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text-align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68122" y="2868335"/>
            <a:ext cx="8969812" cy="17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Aligns text left, right, center, or justified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45901" y="3348990"/>
            <a:ext cx="9738479" cy="787241"/>
          </a:xfrm>
          <a:prstGeom prst="roundRect">
            <a:avLst>
              <a:gd name="adj" fmla="val 7000"/>
            </a:avLst>
          </a:prstGeom>
          <a:solidFill>
            <a:srgbClr val="252222">
              <a:alpha val="95000"/>
            </a:srgbClr>
          </a:solidFill>
          <a:ln w="15240">
            <a:solidFill>
              <a:srgbClr val="971B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1141" y="3364230"/>
            <a:ext cx="524828" cy="756761"/>
          </a:xfrm>
          <a:prstGeom prst="roundRect">
            <a:avLst>
              <a:gd name="adj" fmla="val 7016"/>
            </a:avLst>
          </a:prstGeom>
          <a:solidFill>
            <a:srgbClr val="7E023C"/>
          </a:solidFill>
          <a:ln/>
        </p:spPr>
      </p:sp>
      <p:sp>
        <p:nvSpPr>
          <p:cNvPr id="16" name="Text 14"/>
          <p:cNvSpPr/>
          <p:nvPr/>
        </p:nvSpPr>
        <p:spPr>
          <a:xfrm>
            <a:off x="2621280" y="3619619"/>
            <a:ext cx="196810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68122" y="3495437"/>
            <a:ext cx="1543645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text-decoration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68122" y="3737729"/>
            <a:ext cx="8969812" cy="17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Adds underline, overline, or line-through effects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45901" y="4218384"/>
            <a:ext cx="9738479" cy="787241"/>
          </a:xfrm>
          <a:prstGeom prst="roundRect">
            <a:avLst>
              <a:gd name="adj" fmla="val 7000"/>
            </a:avLst>
          </a:prstGeom>
          <a:solidFill>
            <a:srgbClr val="252222">
              <a:alpha val="95000"/>
            </a:srgbClr>
          </a:solidFill>
          <a:ln w="15240">
            <a:solidFill>
              <a:srgbClr val="971B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61141" y="4233624"/>
            <a:ext cx="524828" cy="756761"/>
          </a:xfrm>
          <a:prstGeom prst="roundRect">
            <a:avLst>
              <a:gd name="adj" fmla="val 7016"/>
            </a:avLst>
          </a:prstGeom>
          <a:solidFill>
            <a:srgbClr val="7E023C"/>
          </a:solidFill>
          <a:ln/>
        </p:spPr>
      </p:sp>
      <p:sp>
        <p:nvSpPr>
          <p:cNvPr id="21" name="Text 19"/>
          <p:cNvSpPr/>
          <p:nvPr/>
        </p:nvSpPr>
        <p:spPr>
          <a:xfrm>
            <a:off x="2621280" y="4489013"/>
            <a:ext cx="196810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068122" y="4364831"/>
            <a:ext cx="1543645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text-transform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68122" y="4607123"/>
            <a:ext cx="8969812" cy="17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Uppercase, lowercase, or capitalize text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45901" y="5087779"/>
            <a:ext cx="9738479" cy="787241"/>
          </a:xfrm>
          <a:prstGeom prst="roundRect">
            <a:avLst>
              <a:gd name="adj" fmla="val 7000"/>
            </a:avLst>
          </a:prstGeom>
          <a:solidFill>
            <a:srgbClr val="252222">
              <a:alpha val="95000"/>
            </a:srgbClr>
          </a:solidFill>
          <a:ln w="15240">
            <a:solidFill>
              <a:srgbClr val="971B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61141" y="5103019"/>
            <a:ext cx="524828" cy="756761"/>
          </a:xfrm>
          <a:prstGeom prst="roundRect">
            <a:avLst>
              <a:gd name="adj" fmla="val 7016"/>
            </a:avLst>
          </a:prstGeom>
          <a:solidFill>
            <a:srgbClr val="7E023C"/>
          </a:solidFill>
          <a:ln/>
        </p:spPr>
      </p:sp>
      <p:sp>
        <p:nvSpPr>
          <p:cNvPr id="26" name="Text 24"/>
          <p:cNvSpPr/>
          <p:nvPr/>
        </p:nvSpPr>
        <p:spPr>
          <a:xfrm>
            <a:off x="2621280" y="5358408"/>
            <a:ext cx="196810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068122" y="5234226"/>
            <a:ext cx="1543645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line-height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68122" y="5476518"/>
            <a:ext cx="8969812" cy="17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Controls spacing between lines of text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45901" y="5957173"/>
            <a:ext cx="9738479" cy="787241"/>
          </a:xfrm>
          <a:prstGeom prst="roundRect">
            <a:avLst>
              <a:gd name="adj" fmla="val 7000"/>
            </a:avLst>
          </a:prstGeom>
          <a:solidFill>
            <a:srgbClr val="252222">
              <a:alpha val="95000"/>
            </a:srgbClr>
          </a:solidFill>
          <a:ln w="15240">
            <a:solidFill>
              <a:srgbClr val="971B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61141" y="5972413"/>
            <a:ext cx="524828" cy="756761"/>
          </a:xfrm>
          <a:prstGeom prst="roundRect">
            <a:avLst>
              <a:gd name="adj" fmla="val 7016"/>
            </a:avLst>
          </a:prstGeom>
          <a:solidFill>
            <a:srgbClr val="7E023C"/>
          </a:solidFill>
          <a:ln/>
        </p:spPr>
      </p:sp>
      <p:sp>
        <p:nvSpPr>
          <p:cNvPr id="31" name="Text 29"/>
          <p:cNvSpPr/>
          <p:nvPr/>
        </p:nvSpPr>
        <p:spPr>
          <a:xfrm>
            <a:off x="2621280" y="6227802"/>
            <a:ext cx="196810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068122" y="6103620"/>
            <a:ext cx="1543645" cy="19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letter-spacing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68122" y="6345912"/>
            <a:ext cx="8969812" cy="17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Adjusts space between individual characters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45901" y="6836807"/>
            <a:ext cx="9738479" cy="595670"/>
          </a:xfrm>
          <a:prstGeom prst="roundRect">
            <a:avLst>
              <a:gd name="adj" fmla="val 9252"/>
            </a:avLst>
          </a:prstGeom>
          <a:solidFill>
            <a:srgbClr val="4C0124"/>
          </a:solidFill>
          <a:ln/>
        </p:spPr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7108" y="7000756"/>
            <a:ext cx="163949" cy="131207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2872264" y="6951702"/>
            <a:ext cx="9180909" cy="341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Try This:</a:t>
            </a:r>
            <a:r>
              <a:rPr lang="en-US" sz="100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Create a paragraph element and experiment with different combinations of these properties. Notice how they work together to create professional typography!</a:t>
            </a:r>
            <a:endParaRPr lang="en-US" sz="10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14928BD-AF61-4219-8E18-AF2C291AF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7881" y="7648494"/>
            <a:ext cx="1638529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04480" y="384334"/>
            <a:ext cx="3050143" cy="381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Font Properties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504480" y="965954"/>
            <a:ext cx="2423636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Controlling Font Appearance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504480" y="1274802"/>
            <a:ext cx="4652486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Font properties determine the typeface, size, weight, and style of your text. Master these to create readable, beautiful interfaces.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04480" y="1682710"/>
            <a:ext cx="4652486" cy="755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font-family:</a:t>
            </a: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Specifies the typeface stack</a:t>
            </a:r>
            <a:endParaRPr lang="en-US" sz="10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font-size:</a:t>
            </a: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Sets text size in px, em, rem, or percentages</a:t>
            </a:r>
            <a:endParaRPr lang="en-US" sz="10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font-weight:</a:t>
            </a: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Controls boldness (400=normal, 700=bold)</a:t>
            </a:r>
            <a:endParaRPr lang="en-US" sz="10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font-style:</a:t>
            </a: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Italic or normal text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816" y="976074"/>
            <a:ext cx="4652486" cy="4652486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4480" y="5809059"/>
            <a:ext cx="1381720" cy="8539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04480" y="6763226"/>
            <a:ext cx="1525072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Serif Fonts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504480" y="7001947"/>
            <a:ext cx="3140273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Traditional fonts with decorative strokes. Great for formal content and print-style layouts.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5004" y="5809059"/>
            <a:ext cx="1381720" cy="8539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745004" y="6763226"/>
            <a:ext cx="1525072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Sans-Serif Fonts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745004" y="7001947"/>
            <a:ext cx="3140273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Modern, clean fonts without decorative strokes. Perfect for web interfaces and digital screens.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5528" y="5809059"/>
            <a:ext cx="1381720" cy="85391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85528" y="6763226"/>
            <a:ext cx="1525072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Monospace Fonts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8985528" y="7001947"/>
            <a:ext cx="3140273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Fixed-width fonts where each character takes equal space. Ideal for code blocks and technical content.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2504480" y="7427952"/>
            <a:ext cx="9621322" cy="417314"/>
          </a:xfrm>
          <a:prstGeom prst="roundRect">
            <a:avLst>
              <a:gd name="adj" fmla="val 13047"/>
            </a:avLst>
          </a:prstGeom>
          <a:solidFill>
            <a:srgbClr val="4C0124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4020" y="7590830"/>
            <a:ext cx="162044" cy="1295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925604" y="7540466"/>
            <a:ext cx="907065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Pro Tip:</a:t>
            </a:r>
            <a:r>
              <a:rPr lang="en-US" sz="100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Always provide a font stack with fallback options! If your preferred font isn't available, the browser will use the next option.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3D05850-BD01-4EFE-9D68-5DCC2A70E7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68455" y="7624405"/>
            <a:ext cx="1638529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33149" y="1160978"/>
            <a:ext cx="3418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Links &amp; Pseudo Classes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2333149" y="1727835"/>
            <a:ext cx="9963983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Make your links interactive and responsive! Pseudo-classes let you style links based on user interaction states.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149" y="2000845"/>
            <a:ext cx="4981932" cy="5369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67332" y="2623780"/>
            <a:ext cx="1579364" cy="197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a:link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467332" y="2872740"/>
            <a:ext cx="4713565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Unvisited link state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081" y="2000845"/>
            <a:ext cx="4982051" cy="5369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49264" y="2623780"/>
            <a:ext cx="1579364" cy="197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a:visited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449264" y="2872740"/>
            <a:ext cx="4713684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Previously clicked links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3149" y="3183136"/>
            <a:ext cx="4981932" cy="5369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467332" y="3806071"/>
            <a:ext cx="1579364" cy="197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a:hover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2467332" y="4055031"/>
            <a:ext cx="4713565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Mouse over state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081" y="3183136"/>
            <a:ext cx="4982051" cy="5369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49264" y="3806071"/>
            <a:ext cx="1579364" cy="197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a:active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7449264" y="4055031"/>
            <a:ext cx="4713684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Currently being clicked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2333149" y="4494490"/>
            <a:ext cx="1895237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LVHA Order Matters!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2333149" y="4860488"/>
            <a:ext cx="9963983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Remember the order: </a:t>
            </a:r>
            <a:r>
              <a:rPr lang="en-US" sz="1050" b="1" dirty="0">
                <a:solidFill>
                  <a:srgbClr val="F20374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Link → Visited → Hover → Active</a:t>
            </a:r>
            <a:r>
              <a:rPr lang="en-US" sz="10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. This ensures proper styling precedence. Using the wrong order can cause some styles to be overridden.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2333149" y="5219462"/>
            <a:ext cx="1579364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Good Example </a:t>
            </a:r>
            <a:r>
              <a:rPr lang="en-US" sz="1200" b="1" dirty="0">
                <a:solidFill>
                  <a:srgbClr val="000000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✅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2333149" y="5528905"/>
            <a:ext cx="4818221" cy="906066"/>
          </a:xfrm>
          <a:prstGeom prst="roundRect">
            <a:avLst>
              <a:gd name="adj" fmla="val 6223"/>
            </a:avLst>
          </a:prstGeom>
          <a:solidFill>
            <a:srgbClr val="322F2F"/>
          </a:solidFill>
          <a:ln/>
        </p:spPr>
      </p:sp>
      <p:sp>
        <p:nvSpPr>
          <p:cNvPr id="20" name="Shape 14"/>
          <p:cNvSpPr/>
          <p:nvPr/>
        </p:nvSpPr>
        <p:spPr>
          <a:xfrm>
            <a:off x="2326481" y="5528905"/>
            <a:ext cx="4831556" cy="906066"/>
          </a:xfrm>
          <a:prstGeom prst="roundRect">
            <a:avLst>
              <a:gd name="adj" fmla="val 2223"/>
            </a:avLst>
          </a:prstGeom>
          <a:solidFill>
            <a:srgbClr val="322F2F"/>
          </a:solidFill>
          <a:ln/>
        </p:spPr>
      </p:sp>
      <p:sp>
        <p:nvSpPr>
          <p:cNvPr id="21" name="Text 15"/>
          <p:cNvSpPr/>
          <p:nvPr/>
        </p:nvSpPr>
        <p:spPr>
          <a:xfrm>
            <a:off x="2460665" y="5629513"/>
            <a:ext cx="4563189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highlight>
                  <a:srgbClr val="322F2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a:link { color: blue; }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highlight>
                  <a:srgbClr val="322F2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a:visited { color: purple; }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highlight>
                  <a:srgbClr val="322F2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a:hover { color: red; }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highlight>
                  <a:srgbClr val="322F2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a:active { color: orange; }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7486412" y="5219462"/>
            <a:ext cx="1579364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Wrong Order </a:t>
            </a:r>
            <a:r>
              <a:rPr lang="en-US" sz="1200" b="1" dirty="0">
                <a:solidFill>
                  <a:srgbClr val="000000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❌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486412" y="5528905"/>
            <a:ext cx="4818221" cy="906066"/>
          </a:xfrm>
          <a:prstGeom prst="roundRect">
            <a:avLst>
              <a:gd name="adj" fmla="val 6223"/>
            </a:avLst>
          </a:prstGeom>
          <a:solidFill>
            <a:srgbClr val="322F2F"/>
          </a:solidFill>
          <a:ln/>
        </p:spPr>
      </p:sp>
      <p:sp>
        <p:nvSpPr>
          <p:cNvPr id="24" name="Shape 18"/>
          <p:cNvSpPr/>
          <p:nvPr/>
        </p:nvSpPr>
        <p:spPr>
          <a:xfrm>
            <a:off x="7479744" y="5528905"/>
            <a:ext cx="4831556" cy="906066"/>
          </a:xfrm>
          <a:prstGeom prst="roundRect">
            <a:avLst>
              <a:gd name="adj" fmla="val 2223"/>
            </a:avLst>
          </a:prstGeom>
          <a:solidFill>
            <a:srgbClr val="322F2F"/>
          </a:solidFill>
          <a:ln/>
        </p:spPr>
      </p:sp>
      <p:sp>
        <p:nvSpPr>
          <p:cNvPr id="25" name="Text 19"/>
          <p:cNvSpPr/>
          <p:nvPr/>
        </p:nvSpPr>
        <p:spPr>
          <a:xfrm>
            <a:off x="7613928" y="5629513"/>
            <a:ext cx="4563189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highlight>
                  <a:srgbClr val="322F2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a:hover { color: red; }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highlight>
                  <a:srgbClr val="322F2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a:active { color: orange; }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highlight>
                  <a:srgbClr val="322F2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a:link { color: blue; }</a:t>
            </a:r>
            <a:endParaRPr lang="en-US" sz="105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highlight>
                  <a:srgbClr val="322F2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a:visited { color: purple; }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2333149" y="6628567"/>
            <a:ext cx="9963983" cy="440055"/>
          </a:xfrm>
          <a:prstGeom prst="roundRect">
            <a:avLst>
              <a:gd name="adj" fmla="val 12813"/>
            </a:avLst>
          </a:prstGeom>
          <a:solidFill>
            <a:srgbClr val="4C0124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7332" y="6800612"/>
            <a:ext cx="167759" cy="13418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769275" y="6747986"/>
            <a:ext cx="9393674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Try This:</a:t>
            </a:r>
            <a:r>
              <a:rPr lang="en-US" sz="10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Create a navigation menu with 3-4 links and apply different colors to each state. Test them in your browser to see the transitions!</a:t>
            </a:r>
            <a:endParaRPr lang="en-US" sz="10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CEFF587-4B85-4250-9DDF-5B6999D9B9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77881" y="7628249"/>
            <a:ext cx="1638529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04322" y="1061561"/>
            <a:ext cx="3046690" cy="38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Lists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6004322" y="1562338"/>
            <a:ext cx="8108156" cy="16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Lists are essential for organizing content. CSS gives you complete control over their appearance, from bullet styles to positioning and layout.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004322" y="1819989"/>
            <a:ext cx="129421" cy="161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004322" y="2024658"/>
            <a:ext cx="8108156" cy="15240"/>
          </a:xfrm>
          <a:prstGeom prst="rect">
            <a:avLst/>
          </a:prstGeom>
          <a:solidFill>
            <a:srgbClr val="F20374"/>
          </a:solidFill>
          <a:ln/>
        </p:spPr>
      </p:sp>
      <p:sp>
        <p:nvSpPr>
          <p:cNvPr id="7" name="Text 4"/>
          <p:cNvSpPr/>
          <p:nvPr/>
        </p:nvSpPr>
        <p:spPr>
          <a:xfrm>
            <a:off x="6004322" y="2119789"/>
            <a:ext cx="1523286" cy="190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list-style-type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004322" y="2358033"/>
            <a:ext cx="8108156" cy="16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Choose bullet style: disc, circle, square, or numbered (decimal)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04322" y="2702719"/>
            <a:ext cx="129421" cy="161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04322" y="2907387"/>
            <a:ext cx="8108156" cy="15240"/>
          </a:xfrm>
          <a:prstGeom prst="rect">
            <a:avLst/>
          </a:prstGeom>
          <a:solidFill>
            <a:srgbClr val="F20374"/>
          </a:solidFill>
          <a:ln/>
        </p:spPr>
      </p:sp>
      <p:sp>
        <p:nvSpPr>
          <p:cNvPr id="11" name="Text 8"/>
          <p:cNvSpPr/>
          <p:nvPr/>
        </p:nvSpPr>
        <p:spPr>
          <a:xfrm>
            <a:off x="6004322" y="3002518"/>
            <a:ext cx="1523286" cy="190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list-style-position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004322" y="3240762"/>
            <a:ext cx="8108156" cy="16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Inside (bullets in content) or outside (bullets in margin)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04322" y="3585448"/>
            <a:ext cx="129421" cy="161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04322" y="3790117"/>
            <a:ext cx="8108156" cy="15240"/>
          </a:xfrm>
          <a:prstGeom prst="rect">
            <a:avLst/>
          </a:prstGeom>
          <a:solidFill>
            <a:srgbClr val="F20374"/>
          </a:solidFill>
          <a:ln/>
        </p:spPr>
      </p:sp>
      <p:sp>
        <p:nvSpPr>
          <p:cNvPr id="15" name="Text 12"/>
          <p:cNvSpPr/>
          <p:nvPr/>
        </p:nvSpPr>
        <p:spPr>
          <a:xfrm>
            <a:off x="6004322" y="3885247"/>
            <a:ext cx="1523286" cy="190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Remove Bullets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004322" y="4123492"/>
            <a:ext cx="8108156" cy="16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Set list-style: none to create clean, bullet-free lists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04322" y="4468178"/>
            <a:ext cx="129421" cy="161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04322" y="4672846"/>
            <a:ext cx="8108156" cy="15240"/>
          </a:xfrm>
          <a:prstGeom prst="rect">
            <a:avLst/>
          </a:prstGeom>
          <a:solidFill>
            <a:srgbClr val="F20374"/>
          </a:solidFill>
          <a:ln/>
        </p:spPr>
      </p:sp>
      <p:sp>
        <p:nvSpPr>
          <p:cNvPr id="19" name="Text 16"/>
          <p:cNvSpPr/>
          <p:nvPr/>
        </p:nvSpPr>
        <p:spPr>
          <a:xfrm>
            <a:off x="6004322" y="4767977"/>
            <a:ext cx="1547336" cy="190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Horizontal Navigation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004322" y="5006221"/>
            <a:ext cx="8108156" cy="16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Use display: inline to create horizontal navigation menus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004322" y="5440918"/>
            <a:ext cx="1523762" cy="190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Vertical List (Default)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004322" y="5711190"/>
            <a:ext cx="3896201" cy="754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Home</a:t>
            </a:r>
            <a:endParaRPr lang="en-US" sz="10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About</a:t>
            </a:r>
            <a:endParaRPr lang="en-US" sz="10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Services</a:t>
            </a:r>
            <a:endParaRPr lang="en-US" sz="10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Contact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223897" y="5440918"/>
            <a:ext cx="1547336" cy="190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Horizontal Navigation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0223897" y="5711190"/>
            <a:ext cx="3896201" cy="754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Home</a:t>
            </a:r>
            <a:endParaRPr lang="en-US" sz="10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About</a:t>
            </a:r>
            <a:endParaRPr lang="en-US" sz="10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Services</a:t>
            </a:r>
            <a:endParaRPr lang="en-US" sz="10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Contact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004322" y="6583680"/>
            <a:ext cx="8108156" cy="584240"/>
          </a:xfrm>
          <a:prstGeom prst="roundRect">
            <a:avLst>
              <a:gd name="adj" fmla="val 9309"/>
            </a:avLst>
          </a:prstGeom>
          <a:solidFill>
            <a:srgbClr val="4C0124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743" y="6746319"/>
            <a:ext cx="161806" cy="129421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424970" y="6695956"/>
            <a:ext cx="755808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Challenge:</a:t>
            </a:r>
            <a:r>
              <a:rPr lang="en-US" sz="100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Create a horizontal navigation bar where each link changes background color on hover. This is a common pattern in web design!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12EDC0C-1BD1-4BAF-A89B-14973DF3BA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68455" y="7583050"/>
            <a:ext cx="1638529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33669" y="1202769"/>
            <a:ext cx="3539014" cy="442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Tables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1733669" y="1861066"/>
            <a:ext cx="11163062" cy="206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Tables display structured data beautifully. From simple borders to zebra-striped rows, CSS transforms tables into professional data displays.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33669" y="2189083"/>
            <a:ext cx="375999" cy="3759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3669" y="2699980"/>
            <a:ext cx="1769507" cy="22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border Property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733669" y="2985849"/>
            <a:ext cx="5514023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Add borders to table elements. Use border-collapse: collapse to remove spacing between cell borders.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82589" y="2189083"/>
            <a:ext cx="375999" cy="37599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82589" y="2699980"/>
            <a:ext cx="1769507" cy="22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Padding Control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382589" y="2985849"/>
            <a:ext cx="5514142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Adjust cell padding for better readability. More padding = more professional, spacious tables.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33669" y="3614976"/>
            <a:ext cx="375999" cy="37599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33669" y="4125873"/>
            <a:ext cx="1769507" cy="22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Text Alignment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733669" y="4411742"/>
            <a:ext cx="5514023" cy="206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Align text left, center, or right within cells using text-align property.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82589" y="3614976"/>
            <a:ext cx="375999" cy="37599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82589" y="4125873"/>
            <a:ext cx="1769507" cy="22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Zebra Striping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7382589" y="4411742"/>
            <a:ext cx="5514142" cy="206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Use nth-child(even) selector to alternate row colors for better readability.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1733669" y="4847749"/>
            <a:ext cx="1769507" cy="22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Without Styling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1733669" y="5190292"/>
            <a:ext cx="5398056" cy="1069300"/>
          </a:xfrm>
          <a:prstGeom prst="roundRect">
            <a:avLst>
              <a:gd name="adj" fmla="val 5908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1741289" y="5197912"/>
            <a:ext cx="5382816" cy="35135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3"/>
          <p:cNvSpPr/>
          <p:nvPr/>
        </p:nvSpPr>
        <p:spPr>
          <a:xfrm>
            <a:off x="1891665" y="5270302"/>
            <a:ext cx="2386846" cy="206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Name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86883" y="5270302"/>
            <a:ext cx="2386846" cy="206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Age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1741289" y="5549265"/>
            <a:ext cx="5382816" cy="35135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1891665" y="5621655"/>
            <a:ext cx="2386846" cy="206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Alice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86883" y="5621655"/>
            <a:ext cx="2386846" cy="206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25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1741289" y="5900618"/>
            <a:ext cx="5382816" cy="35135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1891665" y="5973008"/>
            <a:ext cx="2386846" cy="206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Bob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86883" y="5973008"/>
            <a:ext cx="2386846" cy="206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30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7506295" y="4847749"/>
            <a:ext cx="1769507" cy="22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With CSS Styling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7506295" y="5190292"/>
            <a:ext cx="5398056" cy="1069300"/>
          </a:xfrm>
          <a:prstGeom prst="roundRect">
            <a:avLst>
              <a:gd name="adj" fmla="val 5908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513915" y="5197912"/>
            <a:ext cx="5382816" cy="35135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7664291" y="5270302"/>
            <a:ext cx="2386846" cy="206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Name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10359509" y="5270302"/>
            <a:ext cx="2386846" cy="206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Age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7513915" y="5549265"/>
            <a:ext cx="5382816" cy="35135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27"/>
          <p:cNvSpPr/>
          <p:nvPr/>
        </p:nvSpPr>
        <p:spPr>
          <a:xfrm>
            <a:off x="7664291" y="5621655"/>
            <a:ext cx="2386846" cy="206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Alice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10359509" y="5621655"/>
            <a:ext cx="2386846" cy="206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25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7513915" y="5900618"/>
            <a:ext cx="5382816" cy="35135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0"/>
          <p:cNvSpPr/>
          <p:nvPr/>
        </p:nvSpPr>
        <p:spPr>
          <a:xfrm>
            <a:off x="7664291" y="5973008"/>
            <a:ext cx="2386846" cy="206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Bob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10359509" y="5973008"/>
            <a:ext cx="2386846" cy="206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30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1733669" y="6502479"/>
            <a:ext cx="11163062" cy="524351"/>
          </a:xfrm>
          <a:prstGeom prst="roundRect">
            <a:avLst>
              <a:gd name="adj" fmla="val 12048"/>
            </a:avLst>
          </a:prstGeom>
          <a:solidFill>
            <a:srgbClr val="4C0124"/>
          </a:solidFill>
          <a:ln/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84045" y="6695837"/>
            <a:ext cx="188000" cy="150376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2222421" y="6647974"/>
            <a:ext cx="10523934" cy="206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Try This:</a:t>
            </a:r>
            <a:r>
              <a:rPr lang="en-US" sz="11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Create a table with 4 columns and 5 rows. Add borders, center-align the header, and apply zebra striping using nth-child!</a:t>
            </a:r>
            <a:endParaRPr lang="en-US" sz="115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6E48C11-2976-476C-8D1E-B2008B9A5B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96731" y="7568641"/>
            <a:ext cx="1638529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84973" y="973336"/>
            <a:ext cx="3569851" cy="446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Display Property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684973" y="1639253"/>
            <a:ext cx="11260336" cy="20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display property controls how elements flow on the page. Understanding block, inline, and inline-block is fundamental to web layout.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684973" y="2199561"/>
            <a:ext cx="5575221" cy="1253371"/>
          </a:xfrm>
          <a:prstGeom prst="roundRect">
            <a:avLst>
              <a:gd name="adj" fmla="val 5836"/>
            </a:avLst>
          </a:prstGeom>
          <a:solidFill>
            <a:srgbClr val="252222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684973" y="2184321"/>
            <a:ext cx="5575221" cy="60960"/>
          </a:xfrm>
          <a:prstGeom prst="roundRect">
            <a:avLst>
              <a:gd name="adj" fmla="val 104532"/>
            </a:avLst>
          </a:prstGeom>
          <a:solidFill>
            <a:srgbClr val="F20374"/>
          </a:solidFill>
          <a:ln/>
        </p:spPr>
      </p:sp>
      <p:sp>
        <p:nvSpPr>
          <p:cNvPr id="6" name="Shape 4"/>
          <p:cNvSpPr/>
          <p:nvPr/>
        </p:nvSpPr>
        <p:spPr>
          <a:xfrm>
            <a:off x="4245054" y="1972032"/>
            <a:ext cx="455057" cy="455057"/>
          </a:xfrm>
          <a:prstGeom prst="roundRect">
            <a:avLst>
              <a:gd name="adj" fmla="val 200942"/>
            </a:avLst>
          </a:prstGeom>
          <a:solidFill>
            <a:srgbClr val="F20374"/>
          </a:solidFill>
          <a:ln/>
        </p:spPr>
      </p:sp>
      <p:sp>
        <p:nvSpPr>
          <p:cNvPr id="7" name="Text 5"/>
          <p:cNvSpPr/>
          <p:nvPr/>
        </p:nvSpPr>
        <p:spPr>
          <a:xfrm>
            <a:off x="4381500" y="2085737"/>
            <a:ext cx="182047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51898" y="2578775"/>
            <a:ext cx="1784866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block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51898" y="2867620"/>
            <a:ext cx="5241369" cy="418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Takes full width, starts on new line, has height and width. Examples: div, p, h1-h6, ul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70088" y="2199561"/>
            <a:ext cx="5575221" cy="1253371"/>
          </a:xfrm>
          <a:prstGeom prst="roundRect">
            <a:avLst>
              <a:gd name="adj" fmla="val 5836"/>
            </a:avLst>
          </a:prstGeom>
          <a:solidFill>
            <a:srgbClr val="252222">
              <a:alpha val="9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370088" y="2184321"/>
            <a:ext cx="5575221" cy="60960"/>
          </a:xfrm>
          <a:prstGeom prst="roundRect">
            <a:avLst>
              <a:gd name="adj" fmla="val 104532"/>
            </a:avLst>
          </a:prstGeom>
          <a:solidFill>
            <a:srgbClr val="F20374"/>
          </a:solidFill>
          <a:ln/>
        </p:spPr>
      </p:sp>
      <p:sp>
        <p:nvSpPr>
          <p:cNvPr id="12" name="Shape 10"/>
          <p:cNvSpPr/>
          <p:nvPr/>
        </p:nvSpPr>
        <p:spPr>
          <a:xfrm>
            <a:off x="9930170" y="1972032"/>
            <a:ext cx="455057" cy="455057"/>
          </a:xfrm>
          <a:prstGeom prst="roundRect">
            <a:avLst>
              <a:gd name="adj" fmla="val 200942"/>
            </a:avLst>
          </a:prstGeom>
          <a:solidFill>
            <a:srgbClr val="F20374"/>
          </a:solidFill>
          <a:ln/>
        </p:spPr>
      </p:sp>
      <p:sp>
        <p:nvSpPr>
          <p:cNvPr id="13" name="Text 11"/>
          <p:cNvSpPr/>
          <p:nvPr/>
        </p:nvSpPr>
        <p:spPr>
          <a:xfrm>
            <a:off x="10066615" y="2085737"/>
            <a:ext cx="182047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37013" y="2578775"/>
            <a:ext cx="1784866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inline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37013" y="2867620"/>
            <a:ext cx="5241369" cy="418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Takes only needed width, flows in text, no height/width. Examples: span, a, strong, em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684973" y="3790355"/>
            <a:ext cx="5575221" cy="1253371"/>
          </a:xfrm>
          <a:prstGeom prst="roundRect">
            <a:avLst>
              <a:gd name="adj" fmla="val 5836"/>
            </a:avLst>
          </a:prstGeom>
          <a:solidFill>
            <a:srgbClr val="252222">
              <a:alpha val="9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84973" y="3775115"/>
            <a:ext cx="5575221" cy="60960"/>
          </a:xfrm>
          <a:prstGeom prst="roundRect">
            <a:avLst>
              <a:gd name="adj" fmla="val 104532"/>
            </a:avLst>
          </a:prstGeom>
          <a:solidFill>
            <a:srgbClr val="F20374"/>
          </a:solidFill>
          <a:ln/>
        </p:spPr>
      </p:sp>
      <p:sp>
        <p:nvSpPr>
          <p:cNvPr id="18" name="Shape 16"/>
          <p:cNvSpPr/>
          <p:nvPr/>
        </p:nvSpPr>
        <p:spPr>
          <a:xfrm>
            <a:off x="4245054" y="3562826"/>
            <a:ext cx="455057" cy="455057"/>
          </a:xfrm>
          <a:prstGeom prst="roundRect">
            <a:avLst>
              <a:gd name="adj" fmla="val 200942"/>
            </a:avLst>
          </a:prstGeom>
          <a:solidFill>
            <a:srgbClr val="F20374"/>
          </a:solidFill>
          <a:ln/>
        </p:spPr>
      </p:sp>
      <p:sp>
        <p:nvSpPr>
          <p:cNvPr id="19" name="Text 17"/>
          <p:cNvSpPr/>
          <p:nvPr/>
        </p:nvSpPr>
        <p:spPr>
          <a:xfrm>
            <a:off x="4381500" y="3676531"/>
            <a:ext cx="182047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51898" y="4169569"/>
            <a:ext cx="1784866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inline-block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51898" y="4458414"/>
            <a:ext cx="5241369" cy="418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Flows inline but can have height/width. Perfect for navigation items and grid layouts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70088" y="3790355"/>
            <a:ext cx="5575221" cy="1253371"/>
          </a:xfrm>
          <a:prstGeom prst="roundRect">
            <a:avLst>
              <a:gd name="adj" fmla="val 5836"/>
            </a:avLst>
          </a:prstGeom>
          <a:solidFill>
            <a:srgbClr val="252222">
              <a:alpha val="9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370088" y="3775115"/>
            <a:ext cx="5575221" cy="60960"/>
          </a:xfrm>
          <a:prstGeom prst="roundRect">
            <a:avLst>
              <a:gd name="adj" fmla="val 104532"/>
            </a:avLst>
          </a:prstGeom>
          <a:solidFill>
            <a:srgbClr val="F20374"/>
          </a:solidFill>
          <a:ln/>
        </p:spPr>
      </p:sp>
      <p:sp>
        <p:nvSpPr>
          <p:cNvPr id="24" name="Shape 22"/>
          <p:cNvSpPr/>
          <p:nvPr/>
        </p:nvSpPr>
        <p:spPr>
          <a:xfrm>
            <a:off x="9930170" y="3562826"/>
            <a:ext cx="455057" cy="455057"/>
          </a:xfrm>
          <a:prstGeom prst="roundRect">
            <a:avLst>
              <a:gd name="adj" fmla="val 200942"/>
            </a:avLst>
          </a:prstGeom>
          <a:solidFill>
            <a:srgbClr val="F20374"/>
          </a:solidFill>
          <a:ln/>
        </p:spPr>
      </p:sp>
      <p:sp>
        <p:nvSpPr>
          <p:cNvPr id="25" name="Text 23"/>
          <p:cNvSpPr/>
          <p:nvPr/>
        </p:nvSpPr>
        <p:spPr>
          <a:xfrm>
            <a:off x="10066615" y="3676531"/>
            <a:ext cx="182047" cy="22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37013" y="4169569"/>
            <a:ext cx="1784866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none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37013" y="4458414"/>
            <a:ext cx="5241369" cy="418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Hides the element completely from rendering. Use for conditional content display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684973" y="5208508"/>
            <a:ext cx="2141815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Visual Comparison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684973" y="5750838"/>
            <a:ext cx="1784866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block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684973" y="6083737"/>
            <a:ext cx="3467933" cy="418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Each element starts on a new line and spans the full width available.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530572" y="5750838"/>
            <a:ext cx="1784866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inline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30572" y="6083737"/>
            <a:ext cx="3467933" cy="418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Elements flow together in a line, wrapping naturally like text.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376172" y="5750838"/>
            <a:ext cx="1784866" cy="223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inline-block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376172" y="6083737"/>
            <a:ext cx="3584258" cy="418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Flows inline but respects width and height properties.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684973" y="6724531"/>
            <a:ext cx="11260336" cy="531614"/>
          </a:xfrm>
          <a:prstGeom prst="roundRect">
            <a:avLst>
              <a:gd name="adj" fmla="val 11987"/>
            </a:avLst>
          </a:prstGeom>
          <a:solidFill>
            <a:srgbClr val="4C0124"/>
          </a:solidFill>
          <a:ln/>
        </p:spPr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658" y="6918484"/>
            <a:ext cx="189548" cy="151686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2177891" y="6872288"/>
            <a:ext cx="10615732" cy="20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Important:</a:t>
            </a:r>
            <a:r>
              <a:rPr lang="en-US" sz="11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Understanding display is crucial for Day 3's layout topics! Practice converting between these types to see the differences.</a:t>
            </a:r>
            <a:endParaRPr lang="en-US" sz="115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2FEDC76-8667-4ADA-B363-4499C2B9C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02485" y="7601822"/>
            <a:ext cx="1638529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9253" y="1089184"/>
            <a:ext cx="4420076" cy="44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Practice Task: Profile Card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639253" y="1762363"/>
            <a:ext cx="11351776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Apply everything you've learned today! Build a complete profile card with styled text, links, lists, and a table.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639253" y="2099667"/>
            <a:ext cx="344091" cy="344091"/>
          </a:xfrm>
          <a:prstGeom prst="roundRect">
            <a:avLst>
              <a:gd name="adj" fmla="val 18669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03368" y="2136815"/>
            <a:ext cx="215860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095024" y="2152174"/>
            <a:ext cx="1799392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Create the Structure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95024" y="2443877"/>
            <a:ext cx="10896005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Start with a div container. Add a heading for the name, paragraph for bio, and organize content into sections.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39253" y="2878931"/>
            <a:ext cx="344091" cy="344091"/>
          </a:xfrm>
          <a:prstGeom prst="roundRect">
            <a:avLst>
              <a:gd name="adj" fmla="val 18669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03368" y="2916079"/>
            <a:ext cx="215860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095024" y="2931438"/>
            <a:ext cx="1799392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Style the Text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95024" y="3223141"/>
            <a:ext cx="10896005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Use font properties for professional typography. Apply text-align, line-height, and letter-spacing for readability.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39253" y="3658195"/>
            <a:ext cx="344091" cy="344091"/>
          </a:xfrm>
          <a:prstGeom prst="roundRect">
            <a:avLst>
              <a:gd name="adj" fmla="val 18669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03368" y="3695343"/>
            <a:ext cx="215860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095024" y="3710702"/>
            <a:ext cx="1799392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Add Styled Links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95024" y="4002405"/>
            <a:ext cx="10896005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Include social media links with hover effects. Use the LVHA order to ensure proper styling precedence.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39253" y="4437459"/>
            <a:ext cx="344091" cy="344091"/>
          </a:xfrm>
          <a:prstGeom prst="roundRect">
            <a:avLst>
              <a:gd name="adj" fmla="val 18669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03368" y="4474607"/>
            <a:ext cx="215860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095024" y="4489966"/>
            <a:ext cx="1799392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Create a List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95024" y="4781669"/>
            <a:ext cx="10896005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Add skills or interests as a list. Style it with custom bullets or remove them entirely for a clean look.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639253" y="5216723"/>
            <a:ext cx="344091" cy="344091"/>
          </a:xfrm>
          <a:prstGeom prst="roundRect">
            <a:avLst>
              <a:gd name="adj" fmla="val 18669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03368" y="5253871"/>
            <a:ext cx="215860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095024" y="5269230"/>
            <a:ext cx="1799392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Build a Small Table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095024" y="5560933"/>
            <a:ext cx="10896005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Display contact information or stats in a table. Apply borders, padding, and zebra striping for polish.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39253" y="5995988"/>
            <a:ext cx="344091" cy="344091"/>
          </a:xfrm>
          <a:prstGeom prst="roundRect">
            <a:avLst>
              <a:gd name="adj" fmla="val 18669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03368" y="6033135"/>
            <a:ext cx="215860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6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2095024" y="6048494"/>
            <a:ext cx="2076569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Apply Display Properties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095024" y="6340197"/>
            <a:ext cx="10896005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Use block, inline, or inline-block to control layout flow. Experiment with display: none for conditional content.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868567" y="6803112"/>
            <a:ext cx="11122462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Time to Code!</a:t>
            </a:r>
            <a:r>
              <a:rPr lang="en-US" sz="12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You have 15 minutes to build your profile card. Reference today's slides as needed. Don't worry about perfection—focus on applying the concepts!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639253" y="6677501"/>
            <a:ext cx="22860" cy="462915"/>
          </a:xfrm>
          <a:prstGeom prst="rect">
            <a:avLst/>
          </a:prstGeom>
          <a:solidFill>
            <a:srgbClr val="F20374"/>
          </a:solidFill>
          <a:ln/>
        </p:spPr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F06E1C8-1153-4F36-B947-A43AD57CE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7881" y="7582376"/>
            <a:ext cx="1638529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6860" y="1109901"/>
            <a:ext cx="7021949" cy="877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900"/>
              </a:lnSpc>
              <a:buNone/>
            </a:pPr>
            <a:r>
              <a:rPr lang="en-US" sz="55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Day 3</a:t>
            </a:r>
            <a:endParaRPr lang="en-US" sz="5500" dirty="0"/>
          </a:p>
        </p:txBody>
      </p:sp>
      <p:sp>
        <p:nvSpPr>
          <p:cNvPr id="4" name="Text 1"/>
          <p:cNvSpPr/>
          <p:nvPr/>
        </p:nvSpPr>
        <p:spPr>
          <a:xfrm>
            <a:off x="596860" y="2147054"/>
            <a:ext cx="4691420" cy="43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Navigation &amp; Website Layout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96860" y="2745343"/>
            <a:ext cx="7950279" cy="408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You've mastered styling and structure! Next session, we'll dive into creating navigation systems and complete website layouts using flexbox, grid, and positioning.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96860" y="3273504"/>
            <a:ext cx="7950279" cy="800933"/>
          </a:xfrm>
          <a:prstGeom prst="roundRect">
            <a:avLst>
              <a:gd name="adj" fmla="val 7825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3666" y="3430310"/>
            <a:ext cx="1755458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Navigation Menus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53666" y="3713321"/>
            <a:ext cx="7636669" cy="204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Build responsive navigation bars that adapt to different screen sizes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96860" y="4180642"/>
            <a:ext cx="7950279" cy="800933"/>
          </a:xfrm>
          <a:prstGeom prst="roundRect">
            <a:avLst>
              <a:gd name="adj" fmla="val 7825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3666" y="4337447"/>
            <a:ext cx="1755458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Flexbox Layout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53666" y="4620458"/>
            <a:ext cx="7636669" cy="204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Create flexible, modern layouts with CSS Flexbox properties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96860" y="5087779"/>
            <a:ext cx="7950279" cy="800933"/>
          </a:xfrm>
          <a:prstGeom prst="roundRect">
            <a:avLst>
              <a:gd name="adj" fmla="val 7825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3666" y="5244584"/>
            <a:ext cx="1755458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Grid System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53666" y="5527596"/>
            <a:ext cx="7636669" cy="204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Design complex multi-column layouts using CSS Grid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6860" y="5994916"/>
            <a:ext cx="7950279" cy="800933"/>
          </a:xfrm>
          <a:prstGeom prst="roundRect">
            <a:avLst>
              <a:gd name="adj" fmla="val 7825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3666" y="6151721"/>
            <a:ext cx="1755458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Positioning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53666" y="6434733"/>
            <a:ext cx="7636669" cy="204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Control element placement with absolute, relative, fixed, and sticky positioning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96860" y="6915388"/>
            <a:ext cx="7950279" cy="204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Prepare for an exciting session where we bring all your CSS skills together to build complete, professional web layouts!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1302</Words>
  <Application>Microsoft Office PowerPoint</Application>
  <PresentationFormat>Custom</PresentationFormat>
  <Paragraphs>183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Overpass</vt:lpstr>
      <vt:lpstr>Overpass Light</vt:lpstr>
      <vt:lpstr>Consolas</vt:lpstr>
      <vt:lpstr>Overpass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Tahsin Shaikat</cp:lastModifiedBy>
  <cp:revision>2</cp:revision>
  <dcterms:created xsi:type="dcterms:W3CDTF">2026-03-01T12:45:44Z</dcterms:created>
  <dcterms:modified xsi:type="dcterms:W3CDTF">2026-03-01T12:49:57Z</dcterms:modified>
</cp:coreProperties>
</file>