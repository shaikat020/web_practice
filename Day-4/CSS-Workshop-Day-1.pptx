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Kanit" panose="020B0604020202020204" charset="-34"/>
      <p:regular r:id="rId21"/>
    </p:embeddedFont>
    <p:embeddedFont>
      <p:font typeface="Martel Sans Light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2111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900124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CSS Workshop — Day 1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69986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CSS Fundamentals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870829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What is CSS?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2912864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CSS (Cascading Style Sheets) is the language used to describe how HTML elements are presented — layout, colors, spacing, and typography.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948113"/>
            <a:ext cx="906066" cy="5599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42993" y="394811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Why CSS?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042993" y="4443651"/>
            <a:ext cx="2913578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Separates content (HTML) from presentation so pages are easier to maintain and look great across devices.</a:t>
            </a:r>
            <a:endParaRPr lang="en-US" sz="1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776" y="3948113"/>
            <a:ext cx="906066" cy="5599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61046" y="394811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HTML vs CSS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461046" y="4443651"/>
            <a:ext cx="2913578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HTML = structure (headings, paragraphs). CSS = design (colors, spacing, fonts).</a:t>
            </a:r>
            <a:endParaRPr lang="en-US" sz="1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828" y="3948113"/>
            <a:ext cx="906066" cy="55995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879098" y="394811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Real-world Analogy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0879098" y="4443651"/>
            <a:ext cx="2913578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HTML is the building frame; CSS is the paint, furniture, and finishes that make it attractive.</a:t>
            </a:r>
            <a:endParaRPr lang="en-US" sz="1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8D9F65-A7E9-42DB-8716-41FD836AE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9344" y="7529763"/>
            <a:ext cx="2191056" cy="6668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4952" y="708779"/>
            <a:ext cx="4758452" cy="536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CSS Syntax — The Basics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6284952" y="1571982"/>
            <a:ext cx="7546896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CSS rules follow a simple pattern: selector { property: value; }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4952" y="2173010"/>
            <a:ext cx="7546896" cy="386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/* Example */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4952" y="2804517"/>
            <a:ext cx="7546896" cy="2123956"/>
          </a:xfrm>
          <a:prstGeom prst="roundRect">
            <a:avLst>
              <a:gd name="adj" fmla="val 1611"/>
            </a:avLst>
          </a:prstGeom>
          <a:solidFill>
            <a:srgbClr val="1D1942"/>
          </a:solidFill>
          <a:ln/>
        </p:spPr>
      </p:sp>
      <p:sp>
        <p:nvSpPr>
          <p:cNvPr id="7" name="Shape 4"/>
          <p:cNvSpPr/>
          <p:nvPr/>
        </p:nvSpPr>
        <p:spPr>
          <a:xfrm>
            <a:off x="6273641" y="2804517"/>
            <a:ext cx="7569517" cy="2123956"/>
          </a:xfrm>
          <a:prstGeom prst="roundRect">
            <a:avLst>
              <a:gd name="adj" fmla="val 1611"/>
            </a:avLst>
          </a:prstGeom>
          <a:solidFill>
            <a:srgbClr val="1D1942"/>
          </a:solidFill>
          <a:ln/>
        </p:spPr>
      </p:sp>
      <p:sp>
        <p:nvSpPr>
          <p:cNvPr id="8" name="Text 5"/>
          <p:cNvSpPr/>
          <p:nvPr/>
        </p:nvSpPr>
        <p:spPr>
          <a:xfrm>
            <a:off x="6501765" y="2975610"/>
            <a:ext cx="7113270" cy="178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p {</a:t>
            </a:r>
            <a:endParaRPr lang="en-US" sz="175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color: #1B1744;</a:t>
            </a:r>
            <a:endParaRPr lang="en-US" sz="175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font-size: 16px;</a:t>
            </a:r>
            <a:endParaRPr lang="en-US" sz="175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}</a:t>
            </a:r>
            <a:endParaRPr lang="en-US" sz="175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284952" y="5173147"/>
            <a:ext cx="2370653" cy="2347674"/>
          </a:xfrm>
          <a:prstGeom prst="roundRect">
            <a:avLst>
              <a:gd name="adj" fmla="val 1458"/>
            </a:avLst>
          </a:prstGeom>
          <a:solidFill>
            <a:srgbClr val="2F2B54"/>
          </a:solidFill>
          <a:ln/>
        </p:spPr>
      </p:sp>
      <p:sp>
        <p:nvSpPr>
          <p:cNvPr id="10" name="Text 7"/>
          <p:cNvSpPr/>
          <p:nvPr/>
        </p:nvSpPr>
        <p:spPr>
          <a:xfrm>
            <a:off x="6513076" y="5401270"/>
            <a:ext cx="1914406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Selector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513076" y="5867281"/>
            <a:ext cx="1914406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Targets which element(s) to style (e.g., p, .class, #id).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8873014" y="5173147"/>
            <a:ext cx="2370653" cy="2347674"/>
          </a:xfrm>
          <a:prstGeom prst="roundRect">
            <a:avLst>
              <a:gd name="adj" fmla="val 1458"/>
            </a:avLst>
          </a:prstGeom>
          <a:solidFill>
            <a:srgbClr val="2F2B54"/>
          </a:solidFill>
          <a:ln/>
        </p:spPr>
      </p:sp>
      <p:sp>
        <p:nvSpPr>
          <p:cNvPr id="13" name="Text 10"/>
          <p:cNvSpPr/>
          <p:nvPr/>
        </p:nvSpPr>
        <p:spPr>
          <a:xfrm>
            <a:off x="9101138" y="5401270"/>
            <a:ext cx="1914406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Property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101138" y="5867281"/>
            <a:ext cx="1914406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style attribute (e.g., color, margin, font-size).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1461075" y="5173147"/>
            <a:ext cx="2370772" cy="2347674"/>
          </a:xfrm>
          <a:prstGeom prst="roundRect">
            <a:avLst>
              <a:gd name="adj" fmla="val 1458"/>
            </a:avLst>
          </a:prstGeom>
          <a:solidFill>
            <a:srgbClr val="2F2B54"/>
          </a:solidFill>
          <a:ln/>
        </p:spPr>
      </p:sp>
      <p:sp>
        <p:nvSpPr>
          <p:cNvPr id="16" name="Text 13"/>
          <p:cNvSpPr/>
          <p:nvPr/>
        </p:nvSpPr>
        <p:spPr>
          <a:xfrm>
            <a:off x="11689199" y="5401270"/>
            <a:ext cx="1914525" cy="335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Value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1689199" y="5867281"/>
            <a:ext cx="1914525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setting for the property (e.g., #fd505f, 16px, center).</a:t>
            </a:r>
            <a:endParaRPr lang="en-US" sz="17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1382639-949A-4E62-921A-DC196B7D7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9344" y="7562757"/>
            <a:ext cx="2191056" cy="6668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46232" y="1334572"/>
            <a:ext cx="3011329" cy="376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Types of CSS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6046232" y="2111216"/>
            <a:ext cx="3958709" cy="2103596"/>
          </a:xfrm>
          <a:prstGeom prst="roundRect">
            <a:avLst>
              <a:gd name="adj" fmla="val 5216"/>
            </a:avLst>
          </a:prstGeom>
          <a:solidFill>
            <a:srgbClr val="100C35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232" y="2088356"/>
            <a:ext cx="3958709" cy="9144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5556" y="1871305"/>
            <a:ext cx="479941" cy="47994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929503" y="1991320"/>
            <a:ext cx="1919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6228993" y="2511147"/>
            <a:ext cx="188214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Inline CSS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6228993" y="2818090"/>
            <a:ext cx="3593187" cy="42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Styles written directly on an HTML element. Quick but not reusable.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6228993" y="3365302"/>
            <a:ext cx="3593187" cy="453271"/>
          </a:xfrm>
          <a:prstGeom prst="roundRect">
            <a:avLst>
              <a:gd name="adj" fmla="val 5294"/>
            </a:avLst>
          </a:prstGeom>
          <a:solidFill>
            <a:srgbClr val="1D1942"/>
          </a:solidFill>
          <a:ln/>
        </p:spPr>
      </p:sp>
      <p:sp>
        <p:nvSpPr>
          <p:cNvPr id="11" name="Shape 6"/>
          <p:cNvSpPr/>
          <p:nvPr/>
        </p:nvSpPr>
        <p:spPr>
          <a:xfrm>
            <a:off x="6221016" y="3365302"/>
            <a:ext cx="3609142" cy="453271"/>
          </a:xfrm>
          <a:prstGeom prst="roundRect">
            <a:avLst>
              <a:gd name="adj" fmla="val 5294"/>
            </a:avLst>
          </a:prstGeom>
          <a:solidFill>
            <a:srgbClr val="1D1942"/>
          </a:solidFill>
          <a:ln/>
        </p:spPr>
      </p:sp>
      <p:sp>
        <p:nvSpPr>
          <p:cNvPr id="12" name="Text 7"/>
          <p:cNvSpPr/>
          <p:nvPr/>
        </p:nvSpPr>
        <p:spPr>
          <a:xfrm>
            <a:off x="6380917" y="3485198"/>
            <a:ext cx="3289340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&lt;h1 style="color:#fd505f;"&gt;Title&lt;/h1&gt;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10111859" y="2111216"/>
            <a:ext cx="3958709" cy="2103596"/>
          </a:xfrm>
          <a:prstGeom prst="roundRect">
            <a:avLst>
              <a:gd name="adj" fmla="val 5216"/>
            </a:avLst>
          </a:prstGeom>
          <a:solidFill>
            <a:srgbClr val="100C35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1859" y="2088356"/>
            <a:ext cx="3958709" cy="91440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1184" y="1871305"/>
            <a:ext cx="479941" cy="47994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995130" y="1991320"/>
            <a:ext cx="1919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10294620" y="2511147"/>
            <a:ext cx="188214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CSS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10294620" y="2818090"/>
            <a:ext cx="3593187" cy="42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Placed inside a &lt;style&gt; tag in the HTML head — good for single-page overrides.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10294620" y="3365302"/>
            <a:ext cx="3593187" cy="666750"/>
          </a:xfrm>
          <a:prstGeom prst="roundRect">
            <a:avLst>
              <a:gd name="adj" fmla="val 3599"/>
            </a:avLst>
          </a:prstGeom>
          <a:solidFill>
            <a:srgbClr val="1D1942"/>
          </a:solidFill>
          <a:ln/>
        </p:spPr>
      </p:sp>
      <p:sp>
        <p:nvSpPr>
          <p:cNvPr id="20" name="Shape 13"/>
          <p:cNvSpPr/>
          <p:nvPr/>
        </p:nvSpPr>
        <p:spPr>
          <a:xfrm>
            <a:off x="10286643" y="3365302"/>
            <a:ext cx="3609142" cy="666750"/>
          </a:xfrm>
          <a:prstGeom prst="roundRect">
            <a:avLst>
              <a:gd name="adj" fmla="val 3599"/>
            </a:avLst>
          </a:prstGeom>
          <a:solidFill>
            <a:srgbClr val="1D1942"/>
          </a:solidFill>
          <a:ln/>
        </p:spPr>
      </p:sp>
      <p:sp>
        <p:nvSpPr>
          <p:cNvPr id="21" name="Text 14"/>
          <p:cNvSpPr/>
          <p:nvPr/>
        </p:nvSpPr>
        <p:spPr>
          <a:xfrm>
            <a:off x="10446544" y="3485198"/>
            <a:ext cx="3289340" cy="426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&lt;style&gt; .btn { background:#261C4E; } &lt;/style&gt;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6046232" y="4561642"/>
            <a:ext cx="8024336" cy="1676638"/>
          </a:xfrm>
          <a:prstGeom prst="roundRect">
            <a:avLst>
              <a:gd name="adj" fmla="val 6545"/>
            </a:avLst>
          </a:prstGeom>
          <a:solidFill>
            <a:srgbClr val="100C35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6232" y="4538782"/>
            <a:ext cx="8024336" cy="91440"/>
          </a:xfrm>
          <a:prstGeom prst="rect">
            <a:avLst/>
          </a:prstGeom>
        </p:spPr>
      </p:pic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8430" y="4321731"/>
            <a:ext cx="479941" cy="47994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962376" y="4441746"/>
            <a:ext cx="1919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17"/>
          <p:cNvSpPr/>
          <p:nvPr/>
        </p:nvSpPr>
        <p:spPr>
          <a:xfrm>
            <a:off x="6228993" y="4961573"/>
            <a:ext cx="188214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 CSS</a:t>
            </a:r>
            <a:endParaRPr lang="en-US" sz="1450" dirty="0"/>
          </a:p>
        </p:txBody>
      </p:sp>
      <p:sp>
        <p:nvSpPr>
          <p:cNvPr id="27" name="Text 18"/>
          <p:cNvSpPr/>
          <p:nvPr/>
        </p:nvSpPr>
        <p:spPr>
          <a:xfrm>
            <a:off x="6228993" y="5268516"/>
            <a:ext cx="7658814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Separate .css file linked with &lt;link rel="stylesheet"&gt;. Best for maintainability and reuse across pages.</a:t>
            </a:r>
            <a:endParaRPr lang="en-US" sz="1250" dirty="0"/>
          </a:p>
        </p:txBody>
      </p:sp>
      <p:sp>
        <p:nvSpPr>
          <p:cNvPr id="28" name="Shape 19"/>
          <p:cNvSpPr/>
          <p:nvPr/>
        </p:nvSpPr>
        <p:spPr>
          <a:xfrm>
            <a:off x="6228993" y="5602248"/>
            <a:ext cx="7658814" cy="453271"/>
          </a:xfrm>
          <a:prstGeom prst="roundRect">
            <a:avLst>
              <a:gd name="adj" fmla="val 5294"/>
            </a:avLst>
          </a:prstGeom>
          <a:solidFill>
            <a:srgbClr val="1D1942"/>
          </a:solidFill>
          <a:ln/>
        </p:spPr>
      </p:sp>
      <p:sp>
        <p:nvSpPr>
          <p:cNvPr id="29" name="Shape 20"/>
          <p:cNvSpPr/>
          <p:nvPr/>
        </p:nvSpPr>
        <p:spPr>
          <a:xfrm>
            <a:off x="6221016" y="5602248"/>
            <a:ext cx="7674769" cy="453271"/>
          </a:xfrm>
          <a:prstGeom prst="roundRect">
            <a:avLst>
              <a:gd name="adj" fmla="val 5294"/>
            </a:avLst>
          </a:prstGeom>
          <a:solidFill>
            <a:srgbClr val="1D1942"/>
          </a:solidFill>
          <a:ln/>
        </p:spPr>
      </p:sp>
      <p:sp>
        <p:nvSpPr>
          <p:cNvPr id="30" name="Text 21"/>
          <p:cNvSpPr/>
          <p:nvPr/>
        </p:nvSpPr>
        <p:spPr>
          <a:xfrm>
            <a:off x="6380917" y="5722144"/>
            <a:ext cx="7354967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&lt;link href="styles.css" rel="stylesheet"&gt;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6046232" y="6358533"/>
            <a:ext cx="8024336" cy="536377"/>
          </a:xfrm>
          <a:prstGeom prst="roundRect">
            <a:avLst>
              <a:gd name="adj" fmla="val 4474"/>
            </a:avLst>
          </a:prstGeom>
          <a:solidFill>
            <a:srgbClr val="4C0107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6133" y="6563082"/>
            <a:ext cx="199906" cy="159901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565940" y="6505337"/>
            <a:ext cx="7344727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Try This: Convert an inline style to an external stylesheet — it’s a great refactor exercise.</a:t>
            </a:r>
            <a:endParaRPr lang="en-US" sz="12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017A0B3-029A-41EF-92F6-7943DA1EAE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31125" y="7438978"/>
            <a:ext cx="2191056" cy="6668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543" y="836295"/>
            <a:ext cx="4032409" cy="489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Common CSS Selectors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43" y="1798439"/>
            <a:ext cx="104061" cy="104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3579" y="1687949"/>
            <a:ext cx="2448878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Element Selector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013579" y="2102644"/>
            <a:ext cx="12888278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Targets elements by name. Example: </a:t>
            </a:r>
            <a:r>
              <a:rPr lang="en-US" sz="160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 { color: blue; }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43" y="2916793"/>
            <a:ext cx="104061" cy="1040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3579" y="2806303"/>
            <a:ext cx="2448878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Class Selector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013579" y="3220998"/>
            <a:ext cx="12888278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Targets by class with a dot. Example: </a:t>
            </a:r>
            <a:r>
              <a:rPr lang="en-US" sz="160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.highlight { background:#fd505f; }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43" y="4035147"/>
            <a:ext cx="104061" cy="1040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13579" y="3924657"/>
            <a:ext cx="2448878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ID Selector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013579" y="4339352"/>
            <a:ext cx="12888278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Unique per page, uses #. Example: </a:t>
            </a:r>
            <a:r>
              <a:rPr lang="en-US" sz="160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#hero { padding: 20px; }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43" y="5153501"/>
            <a:ext cx="104061" cy="10406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13579" y="5043011"/>
            <a:ext cx="2448878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Universal Selector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1013579" y="5457706"/>
            <a:ext cx="12888278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Targets all elements. Example: </a:t>
            </a:r>
            <a:r>
              <a:rPr lang="en-US" sz="160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* { box-sizing: border-box; }</a:t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43" y="6271855"/>
            <a:ext cx="104061" cy="10406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13579" y="6161365"/>
            <a:ext cx="2448878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Group Selector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1013579" y="6576060"/>
            <a:ext cx="12888278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Apply same styles to multiple selectors: </a:t>
            </a:r>
            <a:r>
              <a:rPr lang="en-US" sz="160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h1, h2, h3 { margin:0; }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728543" y="7121366"/>
            <a:ext cx="13173313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Try This: Add a </a:t>
            </a:r>
            <a:r>
              <a:rPr lang="en-US" sz="130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.highlight</a:t>
            </a:r>
            <a:r>
              <a:rPr lang="en-US" sz="13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class to one paragraph and style it with a background and padding.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D0D9EA3-E463-4ACB-94C1-55FC0949F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9344" y="7478317"/>
            <a:ext cx="2191056" cy="6668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466493"/>
            <a:ext cx="579215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Comments &amp; Common Errors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37724" y="2388751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Comments help explain code. Common mistakes can be fixed quickly if you know what to look for.</a:t>
            </a:r>
            <a:endParaRPr lang="en-US" sz="1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44" y="3423999"/>
            <a:ext cx="3645575" cy="60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7724" y="372427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Comments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837724" y="4219813"/>
            <a:ext cx="358461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Write with /* comment */ inside CSS files or &lt;style&gt; blocks.</a:t>
            </a:r>
            <a:endParaRPr lang="en-US" sz="1850" dirty="0"/>
          </a:p>
        </p:txBody>
      </p:sp>
      <p:sp>
        <p:nvSpPr>
          <p:cNvPr id="8" name="Shape 4"/>
          <p:cNvSpPr/>
          <p:nvPr/>
        </p:nvSpPr>
        <p:spPr>
          <a:xfrm>
            <a:off x="837724" y="5255062"/>
            <a:ext cx="3584615" cy="741878"/>
          </a:xfrm>
          <a:prstGeom prst="roundRect">
            <a:avLst>
              <a:gd name="adj" fmla="val 4840"/>
            </a:avLst>
          </a:prstGeom>
          <a:solidFill>
            <a:srgbClr val="1D1942"/>
          </a:solidFill>
          <a:ln/>
        </p:spPr>
      </p:sp>
      <p:sp>
        <p:nvSpPr>
          <p:cNvPr id="9" name="Shape 5"/>
          <p:cNvSpPr/>
          <p:nvPr/>
        </p:nvSpPr>
        <p:spPr>
          <a:xfrm>
            <a:off x="825818" y="5255062"/>
            <a:ext cx="3608427" cy="741878"/>
          </a:xfrm>
          <a:prstGeom prst="roundRect">
            <a:avLst>
              <a:gd name="adj" fmla="val 4840"/>
            </a:avLst>
          </a:prstGeom>
          <a:solidFill>
            <a:srgbClr val="1D1942"/>
          </a:solidFill>
          <a:ln/>
        </p:spPr>
      </p:sp>
      <p:sp>
        <p:nvSpPr>
          <p:cNvPr id="10" name="Text 6"/>
          <p:cNvSpPr/>
          <p:nvPr/>
        </p:nvSpPr>
        <p:spPr>
          <a:xfrm>
            <a:off x="1065133" y="5434489"/>
            <a:ext cx="312979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/* This styles the header */</a:t>
            </a:r>
            <a:endParaRPr lang="en-US" sz="1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063" y="3423999"/>
            <a:ext cx="3645694" cy="609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21543" y="372427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Missing Semicolon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4721543" y="4219813"/>
            <a:ext cx="3584734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Every property should end with ; — missing it can break the rule.</a:t>
            </a:r>
            <a:endParaRPr lang="en-US" sz="1850" dirty="0"/>
          </a:p>
        </p:txBody>
      </p:sp>
      <p:sp>
        <p:nvSpPr>
          <p:cNvPr id="14" name="Shape 9"/>
          <p:cNvSpPr/>
          <p:nvPr/>
        </p:nvSpPr>
        <p:spPr>
          <a:xfrm>
            <a:off x="4721543" y="5638086"/>
            <a:ext cx="3584734" cy="1124903"/>
          </a:xfrm>
          <a:prstGeom prst="roundRect">
            <a:avLst>
              <a:gd name="adj" fmla="val 3192"/>
            </a:avLst>
          </a:prstGeom>
          <a:solidFill>
            <a:srgbClr val="1D1942"/>
          </a:solidFill>
          <a:ln/>
        </p:spPr>
      </p:sp>
      <p:sp>
        <p:nvSpPr>
          <p:cNvPr id="15" name="Shape 10"/>
          <p:cNvSpPr/>
          <p:nvPr/>
        </p:nvSpPr>
        <p:spPr>
          <a:xfrm>
            <a:off x="4709636" y="5638086"/>
            <a:ext cx="3608546" cy="1124903"/>
          </a:xfrm>
          <a:prstGeom prst="roundRect">
            <a:avLst>
              <a:gd name="adj" fmla="val 3192"/>
            </a:avLst>
          </a:prstGeom>
          <a:solidFill>
            <a:srgbClr val="1D1942"/>
          </a:solidFill>
          <a:ln/>
        </p:spPr>
      </p:sp>
      <p:sp>
        <p:nvSpPr>
          <p:cNvPr id="16" name="Text 11"/>
          <p:cNvSpPr/>
          <p:nvPr/>
        </p:nvSpPr>
        <p:spPr>
          <a:xfrm>
            <a:off x="4948952" y="5817513"/>
            <a:ext cx="312991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color: red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/*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3716" y="535900"/>
            <a:ext cx="3571875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Colors in CSS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3716" y="1283137"/>
            <a:ext cx="12322969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Common ways to define colors: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1153716" y="3773329"/>
            <a:ext cx="2232422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HEX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153716" y="4202668"/>
            <a:ext cx="4012049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color: #fd505f;</a:t>
            </a: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compact and widely used.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53716" y="4655701"/>
            <a:ext cx="2232422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RGB / RGBA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53716" y="5085040"/>
            <a:ext cx="4012049" cy="57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color: rgb(253,80,95);</a:t>
            </a: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or </a:t>
            </a:r>
            <a:r>
              <a:rPr lang="en-US" sz="14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rgba(253,80,95,0.8);</a:t>
            </a: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for transparency.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36300" y="1874877"/>
            <a:ext cx="2232422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Named Colors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636300" y="2304217"/>
            <a:ext cx="7847886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color: navy;</a:t>
            </a: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simple but less precise.</a:t>
            </a:r>
            <a:endParaRPr lang="en-US" sz="14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300" y="2776061"/>
            <a:ext cx="7847886" cy="438019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36300" y="7325439"/>
            <a:ext cx="7847886" cy="232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Try This: Change a paragraph’s text color to </a:t>
            </a:r>
            <a:r>
              <a:rPr lang="en-US" sz="11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#1B1744</a:t>
            </a: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and its background to </a:t>
            </a:r>
            <a:r>
              <a:rPr lang="en-US" sz="11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#fd505f</a:t>
            </a: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observe legibility.</a:t>
            </a:r>
            <a:endParaRPr lang="en-US" sz="11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F283004-6E83-404C-B647-0C8BCAEA2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1157" y="7735253"/>
            <a:ext cx="2191056" cy="3959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2820" y="941308"/>
            <a:ext cx="3576399" cy="43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Background Properties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52820" y="1598176"/>
            <a:ext cx="7838361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Control the visual backdrop of elements using: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20" y="2126159"/>
            <a:ext cx="93226" cy="932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1302" y="2027158"/>
            <a:ext cx="2194441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background-color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891302" y="2388513"/>
            <a:ext cx="759987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background-color: #261C4E;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20" y="3066514"/>
            <a:ext cx="93226" cy="932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1302" y="2967514"/>
            <a:ext cx="2194441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background-image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891302" y="3328868"/>
            <a:ext cx="759987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background-image: url('pattern.png');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20" y="4006870"/>
            <a:ext cx="93226" cy="9322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91302" y="3907869"/>
            <a:ext cx="2194441" cy="274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background-repeat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891302" y="4269224"/>
            <a:ext cx="7599878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background-repeat: repeat | no-repeat | repeat-x;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652820" y="4721066"/>
            <a:ext cx="7838361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Simple demo: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52820" y="5150048"/>
            <a:ext cx="7838361" cy="2138124"/>
          </a:xfrm>
          <a:prstGeom prst="roundRect">
            <a:avLst>
              <a:gd name="adj" fmla="val 1309"/>
            </a:avLst>
          </a:prstGeom>
          <a:solidFill>
            <a:srgbClr val="1D1942"/>
          </a:solidFill>
          <a:ln/>
        </p:spPr>
      </p:sp>
      <p:sp>
        <p:nvSpPr>
          <p:cNvPr id="16" name="Shape 10"/>
          <p:cNvSpPr/>
          <p:nvPr/>
        </p:nvSpPr>
        <p:spPr>
          <a:xfrm>
            <a:off x="643533" y="5150048"/>
            <a:ext cx="7856934" cy="2138124"/>
          </a:xfrm>
          <a:prstGeom prst="roundRect">
            <a:avLst>
              <a:gd name="adj" fmla="val 1309"/>
            </a:avLst>
          </a:prstGeom>
          <a:solidFill>
            <a:srgbClr val="1D1942"/>
          </a:solidFill>
          <a:ln/>
        </p:spPr>
      </p:sp>
      <p:sp>
        <p:nvSpPr>
          <p:cNvPr id="17" name="Text 11"/>
          <p:cNvSpPr/>
          <p:nvPr/>
        </p:nvSpPr>
        <p:spPr>
          <a:xfrm>
            <a:off x="829985" y="5289828"/>
            <a:ext cx="7484031" cy="1858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50" dirty="0">
                <a:solidFill>
                  <a:srgbClr val="D9E1FF"/>
                </a:solidFill>
                <a:highlight>
                  <a:srgbClr val="1D1942"/>
                </a:highlight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.card {
 background-color: #fd505f;
 background-image: url('dots.png');
 background-repeat: no-repeat;
 padding: 20px;
}
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988" y="543282"/>
            <a:ext cx="12158424" cy="55642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42094" y="1287743"/>
            <a:ext cx="2531193" cy="316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Border &amp; Margin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10142094" y="1699585"/>
            <a:ext cx="2964514" cy="47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2px solid border · 24px margin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717736" y="3236567"/>
            <a:ext cx="2531192" cy="316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Padding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523488" y="3648409"/>
            <a:ext cx="2725440" cy="239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16px (inside)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0142094" y="4180908"/>
            <a:ext cx="2531193" cy="31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Content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142094" y="4592750"/>
            <a:ext cx="2964514" cy="239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200×100px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235988" y="6272212"/>
            <a:ext cx="12158424" cy="564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box model defines how space is calculated for elements. Content → Padding → Border → Margin. Use </a:t>
            </a:r>
            <a:r>
              <a:rPr lang="en-US" sz="14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box-sizing: border-box;</a:t>
            </a: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to include padding and border in the element’s declared width.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1235988" y="7000994"/>
            <a:ext cx="12158424" cy="685205"/>
          </a:xfrm>
          <a:prstGeom prst="roundRect">
            <a:avLst>
              <a:gd name="adj" fmla="val 4099"/>
            </a:avLst>
          </a:prstGeom>
          <a:solidFill>
            <a:srgbClr val="4C010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3154" y="7246382"/>
            <a:ext cx="233958" cy="1871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44278" y="7194113"/>
            <a:ext cx="11362968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Try This: Inspect a div in DevTools and toggle box-sizing to see how layout changes.</a:t>
            </a:r>
            <a:endParaRPr lang="en-US" sz="14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0975A6-96F0-4626-97C3-8F67CA40C2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80728" y="7654051"/>
            <a:ext cx="1849672" cy="5629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56BC5B-91A3-4941-9CAE-18D78255A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63" y="917948"/>
            <a:ext cx="12079386" cy="47345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350580-7A61-4422-BBE7-071E515EB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9650" y="7558137"/>
            <a:ext cx="2190750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4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708</Words>
  <Application>Microsoft Office PowerPoint</Application>
  <PresentationFormat>Custom</PresentationFormat>
  <Paragraphs>95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Martel Sans Light</vt:lpstr>
      <vt:lpstr>Consolas</vt:lpstr>
      <vt:lpstr>Arial</vt:lpstr>
      <vt:lpstr>Consolas Light</vt:lpstr>
      <vt:lpstr>Calibri</vt:lpstr>
      <vt:lpstr>Kanit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Tahsin Shaikat</cp:lastModifiedBy>
  <cp:revision>6</cp:revision>
  <dcterms:created xsi:type="dcterms:W3CDTF">2026-02-26T23:46:02Z</dcterms:created>
  <dcterms:modified xsi:type="dcterms:W3CDTF">2026-02-27T17:47:33Z</dcterms:modified>
</cp:coreProperties>
</file>